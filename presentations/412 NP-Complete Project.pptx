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Slab"/>
      <p:regular r:id="rId24"/>
      <p:bold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Slab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obotoSlab-bold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ad264bc3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ad264bc3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ad264bc33_0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ad264bc33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ad264bc33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ad264bc33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ad264bc33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ad264bc33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ad264bc33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ad264bc33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ad264bc33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ad264bc33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ad264bc33_0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ad264bc33_0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af96f532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daf96f532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ad264bc33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ad264bc33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af96f532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af96f532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ad264bc33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ad264bc33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ad264bc33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ad264bc33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af96f5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af96f5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af96f532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daf96f53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af96f532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af96f53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af96f532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daf96f532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a4ff7ea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a4ff7ea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499500" y="1453050"/>
            <a:ext cx="8145000" cy="11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Traveling Salesman Problem</a:t>
            </a:r>
            <a:endParaRPr sz="40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2444250" y="29889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Alex Karapetkov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Traveling Salesman Problem (TSP)?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5"/>
            <a:ext cx="5019600" cy="3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Asks the following question: “Given a list of cities and the distances between each pair of cities, what is the shortest possible route that visits each city exactly once and returns to the origin city?”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NP-hard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Challenge lies in finding optimal route among the exponentially many possibilities as more cities are added while minimizing total distance traveled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500" y="2092613"/>
            <a:ext cx="3431700" cy="2267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 TSP important?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Logistics and Transportation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Optimizing delivery routes to minimize fuel consumption, time, and distance traveled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Telecommunications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Designing efficient network layouts for data routing, fiber optic cable installation, etc to minimize latency or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Chip Manufacturing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Planning most efficient path for laser to follow when etching integrated circuits to minimize manufacturing time and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Vehicle Routing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Optimizing routes for ride-sharing services and public transportation to reduce overall travel time and efficiently serve passengers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TSP Decision and Optimization Formulations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5"/>
            <a:ext cx="83682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Decision problem: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“Given a weighted graph G and an integer D, is there a Hamiltonian cycle (a tour that visits each city exactly once) with a total weight less than or </a:t>
            </a:r>
            <a:r>
              <a:rPr lang="en"/>
              <a:t>equal</a:t>
            </a:r>
            <a:r>
              <a:rPr lang="en"/>
              <a:t> to D?”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Helps in understanding whether a solution to the optimization problem exists with a given constraint (distance threshold 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NP - Complete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Optimization Problem: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“Given a weighted graph G, find a Hamiltonian cycle with the minimum total weight.”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Seeks to find best solution among all possible tours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NP - Hard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Certifier Process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304725"/>
            <a:ext cx="8368200" cy="3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2864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32"/>
              <a:t>Given instance of decision problem which includes graph and distance threshold D, certifier process verifies whether a proposed solution satisfies two conditions:</a:t>
            </a:r>
            <a:endParaRPr sz="2032"/>
          </a:p>
          <a:p>
            <a:pPr indent="-30895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32"/>
              <a:t>Hamiltonian cycle: proposed solution must form a Hamiltonian cycle</a:t>
            </a:r>
            <a:endParaRPr sz="1632"/>
          </a:p>
          <a:p>
            <a:pPr indent="-30895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32"/>
              <a:t>Total distance: total distance of the tour must be less than or equal to the given threshold D</a:t>
            </a:r>
            <a:endParaRPr sz="1632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32"/>
          </a:p>
          <a:p>
            <a:pPr indent="-32864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32"/>
              <a:t>Certifier process verifies these conditions in polynomial time</a:t>
            </a:r>
            <a:endParaRPr sz="2032"/>
          </a:p>
          <a:p>
            <a:pPr indent="-30895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32"/>
              <a:t>Hamiltonian cycle verification: Must traverse edges of tour to determine if the tour forms hamiltonian cycle; requires at most </a:t>
            </a:r>
            <a:r>
              <a:rPr i="1" lang="en" sz="1632"/>
              <a:t>O(n)</a:t>
            </a:r>
            <a:r>
              <a:rPr lang="en" sz="1632"/>
              <a:t> operations with </a:t>
            </a:r>
            <a:r>
              <a:rPr i="1" lang="en" sz="1632"/>
              <a:t>n</a:t>
            </a:r>
            <a:r>
              <a:rPr lang="en" sz="1632"/>
              <a:t> being number of cities</a:t>
            </a:r>
            <a:endParaRPr sz="1632"/>
          </a:p>
          <a:p>
            <a:pPr indent="-30895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32"/>
              <a:t>Total distance calculation: must sum distances of edges in tour to get total distance; since number of edges is at most </a:t>
            </a:r>
            <a:r>
              <a:rPr i="1" lang="en" sz="1632"/>
              <a:t>n </a:t>
            </a:r>
            <a:r>
              <a:rPr lang="en" sz="1632"/>
              <a:t>(</a:t>
            </a:r>
            <a:r>
              <a:rPr i="1" lang="en" sz="1632"/>
              <a:t>n </a:t>
            </a:r>
            <a:r>
              <a:rPr lang="en" sz="1632"/>
              <a:t>is number of cities), can be done in </a:t>
            </a:r>
            <a:r>
              <a:rPr i="1" lang="en" sz="1632"/>
              <a:t>O(n)</a:t>
            </a:r>
            <a:r>
              <a:rPr lang="en" sz="1632"/>
              <a:t> operations</a:t>
            </a:r>
            <a:endParaRPr sz="1632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58"/>
          </a:p>
          <a:p>
            <a:pPr indent="-3298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58"/>
              <a:t>Both conditions can be verified in </a:t>
            </a:r>
            <a:r>
              <a:rPr lang="en" sz="2058"/>
              <a:t>polynomial</a:t>
            </a:r>
            <a:r>
              <a:rPr lang="en" sz="2058"/>
              <a:t> time so certifier process of TSP decision version is polynomial</a:t>
            </a:r>
            <a:endParaRPr sz="205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 from known NP-hard problem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5"/>
            <a:ext cx="5328900" cy="32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Hamiltonian Cycle problem (HSP) can be reduced to an instance of TSP in polynomial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given graph </a:t>
            </a:r>
            <a:r>
              <a:rPr i="1" lang="en"/>
              <a:t>G = (V, E)</a:t>
            </a:r>
            <a:r>
              <a:rPr lang="en"/>
              <a:t>, the HSP is to find whether </a:t>
            </a:r>
            <a:r>
              <a:rPr i="1" lang="en"/>
              <a:t>G </a:t>
            </a:r>
            <a:r>
              <a:rPr lang="en"/>
              <a:t>contains a Hamiltonian cycle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reduce HSP to TSP, complete the graph </a:t>
            </a:r>
            <a:r>
              <a:rPr i="1" lang="en"/>
              <a:t>G</a:t>
            </a:r>
            <a:r>
              <a:rPr lang="en"/>
              <a:t> by adding edges between all pairs of vertices that were not connected in </a:t>
            </a:r>
            <a:r>
              <a:rPr i="1" lang="en"/>
              <a:t>G</a:t>
            </a:r>
            <a:r>
              <a:rPr lang="en"/>
              <a:t>; let this new graph by </a:t>
            </a:r>
            <a:r>
              <a:rPr i="1" lang="en"/>
              <a:t>G’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edges in </a:t>
            </a:r>
            <a:r>
              <a:rPr i="1" lang="en"/>
              <a:t>G’</a:t>
            </a:r>
            <a:r>
              <a:rPr lang="en"/>
              <a:t> that were also present in </a:t>
            </a:r>
            <a:r>
              <a:rPr i="1" lang="en"/>
              <a:t>G, </a:t>
            </a:r>
            <a:r>
              <a:rPr lang="en"/>
              <a:t>assign a weight 0; assign weight 1 to all other edges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124" y="1107975"/>
            <a:ext cx="2365500" cy="18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9825" y="3009125"/>
            <a:ext cx="2365500" cy="19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5852425" y="1244400"/>
            <a:ext cx="3243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5789738" y="3092125"/>
            <a:ext cx="387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G’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38525" y="4417200"/>
            <a:ext cx="5938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Reference: https://opendsa-server.cs.vt.edu/ODSA/Books/Everything/html/hamiltonianCycle_to_TSP.html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 from </a:t>
            </a:r>
            <a:r>
              <a:rPr lang="en"/>
              <a:t>known NP-hard problem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87900" y="1206675"/>
            <a:ext cx="5472000" cy="3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 is a cycle that passes through all vertices exactly once, and has length &lt;= 0 in graph </a:t>
            </a:r>
            <a:r>
              <a:rPr i="1" lang="en"/>
              <a:t>G’</a:t>
            </a:r>
            <a:r>
              <a:rPr lang="en"/>
              <a:t>, the cycle contains only edges that were originally present in graph </a:t>
            </a:r>
            <a:r>
              <a:rPr i="1" lang="en"/>
              <a:t>G</a:t>
            </a:r>
            <a:r>
              <a:rPr lang="en"/>
              <a:t>; therefore there is a hamiltonian cycle in </a:t>
            </a:r>
            <a:r>
              <a:rPr i="1" lang="en"/>
              <a:t>G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New edges in </a:t>
            </a:r>
            <a:r>
              <a:rPr i="1" lang="en"/>
              <a:t>G’</a:t>
            </a:r>
            <a:r>
              <a:rPr lang="en"/>
              <a:t> have weight 1 and cannot be part of cycle with length &lt;=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 is a hamiltonian cycle in </a:t>
            </a:r>
            <a:r>
              <a:rPr i="1" lang="en"/>
              <a:t>G</a:t>
            </a:r>
            <a:r>
              <a:rPr lang="en"/>
              <a:t>, it forms a cycle in </a:t>
            </a:r>
            <a:r>
              <a:rPr i="1" lang="en"/>
              <a:t>G’</a:t>
            </a:r>
            <a:r>
              <a:rPr lang="en"/>
              <a:t> with length = 0, since all edges </a:t>
            </a:r>
            <a:r>
              <a:rPr lang="en"/>
              <a:t>have</a:t>
            </a:r>
            <a:r>
              <a:rPr lang="en"/>
              <a:t> weight 0; therefore there exists a solution for TSP in </a:t>
            </a:r>
            <a:r>
              <a:rPr i="1" lang="en"/>
              <a:t>G’</a:t>
            </a:r>
            <a:r>
              <a:rPr lang="en"/>
              <a:t> with length &lt;= 0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425" y="1144125"/>
            <a:ext cx="2264449" cy="201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425" y="3265825"/>
            <a:ext cx="2264449" cy="17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87900" y="4395150"/>
            <a:ext cx="54720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Reference: https://opendsa-server.cs.vt.edu/ODSA/Books/Everything/html/hamiltonianCycle_to_TSP.html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Approximation Solution Pseudocode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87900" y="1489825"/>
            <a:ext cx="83682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Key idea: utilize the minimum spanning tree to find the shortest path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Section with Prim’s algorithm is greedy; solution is overall deterministic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APPROX-TSP-TOUR(</a:t>
            </a:r>
            <a:r>
              <a:rPr i="1" lang="en"/>
              <a:t>G, c</a:t>
            </a:r>
            <a:r>
              <a:rPr lang="en"/>
              <a:t>)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s</a:t>
            </a:r>
            <a:r>
              <a:rPr lang="en"/>
              <a:t>elect a vertex </a:t>
            </a:r>
            <a:r>
              <a:rPr i="1" lang="en"/>
              <a:t>r</a:t>
            </a:r>
            <a:r>
              <a:rPr lang="en"/>
              <a:t> ⋲ </a:t>
            </a:r>
            <a:r>
              <a:rPr i="1" lang="en"/>
              <a:t>G.V</a:t>
            </a:r>
            <a:r>
              <a:rPr lang="en"/>
              <a:t> to be a “root” vertex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</a:t>
            </a:r>
            <a:r>
              <a:rPr lang="en"/>
              <a:t>ompute a minimum spanning tree </a:t>
            </a:r>
            <a:r>
              <a:rPr i="1" lang="en"/>
              <a:t>T</a:t>
            </a:r>
            <a:r>
              <a:rPr lang="en"/>
              <a:t> for </a:t>
            </a:r>
            <a:r>
              <a:rPr i="1" lang="en"/>
              <a:t>G</a:t>
            </a:r>
            <a:r>
              <a:rPr lang="en"/>
              <a:t> from root </a:t>
            </a:r>
            <a:r>
              <a:rPr i="1" lang="en"/>
              <a:t>r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</a:t>
            </a:r>
            <a:r>
              <a:rPr lang="en"/>
              <a:t>sing </a:t>
            </a:r>
            <a:r>
              <a:rPr i="1" lang="en"/>
              <a:t>MST - PRIM(G, c, r)</a:t>
            </a:r>
            <a:endParaRPr i="1"/>
          </a:p>
          <a:p>
            <a:pPr indent="-32575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l</a:t>
            </a:r>
            <a:r>
              <a:rPr lang="en"/>
              <a:t>et </a:t>
            </a:r>
            <a:r>
              <a:rPr i="1" lang="en"/>
              <a:t>H</a:t>
            </a:r>
            <a:r>
              <a:rPr lang="en"/>
              <a:t> be a list of vertices, ordered according to when they are first visited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 a preorder tree walk of </a:t>
            </a:r>
            <a:r>
              <a:rPr i="1" lang="en"/>
              <a:t>T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r</a:t>
            </a:r>
            <a:r>
              <a:rPr lang="en"/>
              <a:t>eturn the Hamiltonian cycle </a:t>
            </a:r>
            <a:r>
              <a:rPr i="1" lang="en"/>
              <a:t>H</a:t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358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58"/>
              <a:t>*Referenced from </a:t>
            </a:r>
            <a:r>
              <a:rPr lang="en" sz="1358"/>
              <a:t>approximation</a:t>
            </a:r>
            <a:r>
              <a:rPr lang="en" sz="1358"/>
              <a:t> algorithms lecture notes*</a:t>
            </a:r>
            <a:endParaRPr sz="135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Approximation is not Optimal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075" y="1360625"/>
            <a:ext cx="51816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00" y="2024800"/>
            <a:ext cx="14001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4075" y="2996350"/>
            <a:ext cx="51816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260938" y="1636575"/>
            <a:ext cx="1349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1777475" y="1402775"/>
            <a:ext cx="18366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Approximation: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2473700" y="2996350"/>
            <a:ext cx="1493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Optimal: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Exact Solution Pseudocode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87900" y="1259475"/>
            <a:ext cx="8368200" cy="38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0124D"/>
                </a:solidFill>
                <a:highlight>
                  <a:srgbClr val="C58AEB"/>
                </a:highlight>
              </a:rPr>
              <a:t>TWO - OPT(distance_matrix)</a:t>
            </a:r>
            <a:endParaRPr b="1" sz="1200">
              <a:solidFill>
                <a:srgbClr val="20124D"/>
              </a:solidFill>
              <a:highlight>
                <a:srgbClr val="C58AEB"/>
              </a:highlight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Initialize best route as a list containing indices of cities in order they are visited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Calculate the total distance of the initial tour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Repeat until no more improvements can be made: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For each pair of cities(i, k):</a:t>
            </a:r>
            <a:endParaRPr sz="12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Generate a new route by performing a </a:t>
            </a:r>
            <a:r>
              <a:rPr b="1" lang="en" sz="1200"/>
              <a:t>2-opt swap</a:t>
            </a:r>
            <a:r>
              <a:rPr lang="en" sz="1200"/>
              <a:t> on the current best route</a:t>
            </a:r>
            <a:endParaRPr sz="12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Calculate the total distance of the new route</a:t>
            </a:r>
            <a:endParaRPr sz="1200"/>
          </a:p>
          <a:p>
            <a: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If the new route distance is less than the current best:</a:t>
            </a:r>
            <a:endParaRPr sz="1200"/>
          </a:p>
          <a:p>
            <a:pPr indent="-3048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Update the current best route</a:t>
            </a:r>
            <a:endParaRPr sz="1200"/>
          </a:p>
          <a:p>
            <a:pPr indent="-3048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Update the current best distance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Return the best route and its corresponding total distance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highlight>
                  <a:srgbClr val="C58AEB"/>
                </a:highlight>
              </a:rPr>
              <a:t>TOUR - DISTANCE (tour, distance_matrix)</a:t>
            </a:r>
            <a:endParaRPr b="1" sz="1300">
              <a:solidFill>
                <a:srgbClr val="000000"/>
              </a:solidFill>
              <a:highlight>
                <a:srgbClr val="C58AEB"/>
              </a:highlight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Calculate the total distance of the tour by summing distances between consecutive cities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Add distance from last city back to starting city to complete tour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Return the total distance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highlight>
                  <a:srgbClr val="C58AEB"/>
                </a:highlight>
              </a:rPr>
              <a:t>TWO - OPT - SWAP (route, i, k)</a:t>
            </a:r>
            <a:endParaRPr b="1" sz="1300">
              <a:solidFill>
                <a:srgbClr val="000000"/>
              </a:solidFill>
              <a:highlight>
                <a:srgbClr val="C58AEB"/>
              </a:highlight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Copy the current route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Reverse the order of nodes between indices i and k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Return the new route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Analysis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87900" y="1489824"/>
            <a:ext cx="8368200" cy="11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C: tour cost of approximate TSP tour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C*: tour cost of optimal TSP tour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≤ 2C*: 2-approximation algorithm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1763" y="221925"/>
            <a:ext cx="2747051" cy="23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1775" y="2665476"/>
            <a:ext cx="2747051" cy="234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/>
        </p:nvSpPr>
        <p:spPr>
          <a:xfrm>
            <a:off x="67875" y="4653275"/>
            <a:ext cx="564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Reference: approximation algorithms lecture notes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Inputs and Outputs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87900" y="1489825"/>
            <a:ext cx="3762300" cy="34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85"/>
              <a:t>Test case #2		Test case #3</a:t>
            </a:r>
            <a:endParaRPr sz="2085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85"/>
              <a:t>Input:			Input:</a:t>
            </a:r>
            <a:endParaRPr sz="2085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5 10				4 6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a</a:t>
            </a:r>
            <a:r>
              <a:rPr lang="en" sz="1400"/>
              <a:t> b 3				a b 10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a</a:t>
            </a:r>
            <a:r>
              <a:rPr lang="en" sz="1400"/>
              <a:t> c 4				b c 35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a</a:t>
            </a:r>
            <a:r>
              <a:rPr lang="en" sz="1400"/>
              <a:t> d 2				a c 15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a</a:t>
            </a:r>
            <a:r>
              <a:rPr lang="en" sz="1400"/>
              <a:t> e 7				b d 25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b</a:t>
            </a:r>
            <a:r>
              <a:rPr lang="en" sz="1400"/>
              <a:t> c 4				c d 30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b</a:t>
            </a:r>
            <a:r>
              <a:rPr lang="en" sz="1400"/>
              <a:t> d 6				a d 20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b</a:t>
            </a:r>
            <a:r>
              <a:rPr lang="en" sz="1400"/>
              <a:t> e 3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c</a:t>
            </a:r>
            <a:r>
              <a:rPr lang="en" sz="1400"/>
              <a:t> d 5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c</a:t>
            </a:r>
            <a:r>
              <a:rPr lang="en" sz="1400"/>
              <a:t> e 8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/>
              <a:t>d</a:t>
            </a:r>
            <a:r>
              <a:rPr lang="en" sz="1400"/>
              <a:t> e 6</a:t>
            </a:r>
            <a:endParaRPr sz="1400"/>
          </a:p>
        </p:txBody>
      </p:sp>
      <p:sp>
        <p:nvSpPr>
          <p:cNvPr id="148" name="Google Shape;148;p24"/>
          <p:cNvSpPr txBox="1"/>
          <p:nvPr/>
        </p:nvSpPr>
        <p:spPr>
          <a:xfrm>
            <a:off x="4572000" y="1401525"/>
            <a:ext cx="4017600" cy="3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case #2:		Test case #3: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Approx:			Approx: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				50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 b e c a		a b c d 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Exact:			Exact: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				80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 a d e b		b a c d 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Approximation versus Exact Solution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Runtime Analysis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87900" y="1489825"/>
            <a:ext cx="8368200" cy="3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Approximation solution: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Create_graph function iterates over each edge once; has time complexity </a:t>
            </a:r>
            <a:r>
              <a:rPr i="1" lang="en"/>
              <a:t>O(m), </a:t>
            </a:r>
            <a:r>
              <a:rPr lang="en"/>
              <a:t>where </a:t>
            </a:r>
            <a:r>
              <a:rPr i="1" lang="en"/>
              <a:t>m</a:t>
            </a:r>
            <a:r>
              <a:rPr lang="en"/>
              <a:t> is the number of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 function </a:t>
            </a:r>
            <a:r>
              <a:rPr lang="en"/>
              <a:t>iterates over all edges in graph in the worst case (</a:t>
            </a:r>
            <a:r>
              <a:rPr i="1" lang="en"/>
              <a:t>O(m)</a:t>
            </a:r>
            <a:r>
              <a:rPr lang="en"/>
              <a:t> time complexity); also uses a priority queue which can perform insertion and removal in </a:t>
            </a:r>
            <a:r>
              <a:rPr i="1" lang="en"/>
              <a:t>O(log n) </a:t>
            </a:r>
            <a:r>
              <a:rPr lang="en"/>
              <a:t>time where </a:t>
            </a:r>
            <a:r>
              <a:rPr i="1" lang="en"/>
              <a:t>n </a:t>
            </a:r>
            <a:r>
              <a:rPr lang="en"/>
              <a:t>is number of elements in queue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complexity is </a:t>
            </a:r>
            <a:r>
              <a:rPr i="1" lang="en"/>
              <a:t>O(m log 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Preorder_walk function performs DFS of MST; in worst case, each node and edge may be visited once, resulting in </a:t>
            </a:r>
            <a:r>
              <a:rPr i="1" lang="en"/>
              <a:t>O(n + m)</a:t>
            </a:r>
            <a:r>
              <a:rPr lang="en"/>
              <a:t> runtime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Approx_tsp_tour function iterates over each node in walk and each connected edge; has time complexity of </a:t>
            </a:r>
            <a:r>
              <a:rPr i="1" lang="en"/>
              <a:t>O(n)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Runtime Analysis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87900" y="1489825"/>
            <a:ext cx="31644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Section that drives highest order term is Prim’s algorithm: </a:t>
            </a:r>
            <a:r>
              <a:rPr i="1" lang="en"/>
              <a:t>O(m log m) </a:t>
            </a:r>
            <a:r>
              <a:rPr lang="en"/>
              <a:t>runtime</a:t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075" y="1093550"/>
            <a:ext cx="4678149" cy="394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Runtime Analysis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87900" y="1489825"/>
            <a:ext cx="8368200" cy="3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Solution: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Constructing the distance matrix </a:t>
            </a:r>
            <a:r>
              <a:rPr lang="en"/>
              <a:t>involves</a:t>
            </a:r>
            <a:r>
              <a:rPr lang="en"/>
              <a:t> nested loops and results in a time complexity of </a:t>
            </a:r>
            <a:r>
              <a:rPr i="1" lang="en"/>
              <a:t>O(n</a:t>
            </a:r>
            <a:r>
              <a:rPr baseline="30000" i="1" lang="en"/>
              <a:t>2</a:t>
            </a:r>
            <a:r>
              <a:rPr i="1" lang="en"/>
              <a:t>) </a:t>
            </a:r>
            <a:r>
              <a:rPr lang="en"/>
              <a:t>where n is the number of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2-Opt Algorithm: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Outer loops runs until no new improvements can be made which can potentially run for a large number of iterations depending on the 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Nested loops over all </a:t>
            </a:r>
            <a:r>
              <a:rPr lang="en"/>
              <a:t>pairs of cities have combined time complexity of </a:t>
            </a:r>
            <a:r>
              <a:rPr i="1" lang="en"/>
              <a:t>O(n</a:t>
            </a:r>
            <a:r>
              <a:rPr baseline="30000" i="1" lang="en"/>
              <a:t>2</a:t>
            </a:r>
            <a:r>
              <a:rPr i="1" lang="en"/>
              <a:t>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 to two_opt_swap has time complexity of </a:t>
            </a:r>
            <a:r>
              <a:rPr i="1" lang="en"/>
              <a:t>O(n)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Overall, the 2-opt algorithm has a time complexity of </a:t>
            </a:r>
            <a:r>
              <a:rPr i="1" lang="en"/>
              <a:t>O(n</a:t>
            </a:r>
            <a:r>
              <a:rPr baseline="30000" i="1" lang="en"/>
              <a:t>3</a:t>
            </a:r>
            <a:r>
              <a:rPr i="1" lang="en"/>
              <a:t>) </a:t>
            </a:r>
            <a:r>
              <a:rPr lang="en"/>
              <a:t>where n is the number of cities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Tour_distance function calculates total distance of a tour by summing distances between consecutive cities; has time complexity of </a:t>
            </a:r>
            <a:r>
              <a:rPr i="1" lang="en"/>
              <a:t>O(n)</a:t>
            </a:r>
            <a:r>
              <a:rPr lang="en"/>
              <a:t> where n is the number of cities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Runtime Analysis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87900" y="1489825"/>
            <a:ext cx="3352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Section that drives highest order term is the 2-opt algorithm with a time complexity of </a:t>
            </a:r>
            <a:r>
              <a:rPr i="1" lang="en"/>
              <a:t>O(n</a:t>
            </a:r>
            <a:r>
              <a:rPr baseline="30000" i="1" lang="en"/>
              <a:t>3</a:t>
            </a:r>
            <a:r>
              <a:rPr i="1" lang="en"/>
              <a:t>)</a:t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725" y="1144117"/>
            <a:ext cx="5605351" cy="344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152475"/>
            <a:ext cx="8520600" cy="38403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Presentation must include:</a:t>
            </a:r>
            <a:endParaRPr sz="1200"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200" strike="sngStrike"/>
              <a:t>BOTH the decision problem being solved and the optimization problem</a:t>
            </a:r>
            <a:endParaRPr sz="1200" strike="sngStrike"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 strike="sngStrike"/>
              <a:t>Example inputs and outputs (2)</a:t>
            </a:r>
            <a:endParaRPr sz="1200" strike="sngStrike"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 strike="sngStrike"/>
              <a:t>Why the </a:t>
            </a:r>
            <a:r>
              <a:rPr lang="en" sz="1200" strike="sngStrike"/>
              <a:t>problem is important (some applications that use this problem) </a:t>
            </a:r>
            <a:endParaRPr sz="1200" strike="sngStrike"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 strike="sngStrike"/>
              <a:t>An explanation of the certifier process being polynomial</a:t>
            </a:r>
            <a:endParaRPr sz="1200" strike="sngStrike"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 strike="sngStrike"/>
              <a:t>A reduction from a known/accepted NP-hard problem (with examples graphically shown)</a:t>
            </a:r>
            <a:endParaRPr sz="1200" strike="sngStrike"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 strike="sngStrike"/>
              <a:t>Explanation of the coded-solution in pseudocode: both the exact and approximate solutions (1)</a:t>
            </a:r>
            <a:endParaRPr sz="1200" strike="sngStrike"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 strike="sngStrike"/>
              <a:t>An analytical (big-O) runtime analysis of your coded solution and showcase the code that is the dominant term (the section that drives the highest order term) (4)</a:t>
            </a:r>
            <a:endParaRPr sz="1200" strike="sngStrike"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>
                <a:highlight>
                  <a:srgbClr val="C58AEB"/>
                </a:highlight>
              </a:rPr>
              <a:t>A wall clock (empirical) runtime analysis of your code on your test cases. This analysis must show input size on the X axis and runtime on the Y axis (5)</a:t>
            </a:r>
            <a:endParaRPr sz="1200">
              <a:highlight>
                <a:srgbClr val="C58AEB"/>
              </a:highlight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>
                <a:highlight>
                  <a:srgbClr val="C58AEB"/>
                </a:highlight>
              </a:rPr>
              <a:t>Plots that illustrate the run-time (wall clock) performance of your exact solution versus the approximation solution on your test cases (6)</a:t>
            </a:r>
            <a:endParaRPr sz="1200">
              <a:highlight>
                <a:srgbClr val="C58AEB"/>
              </a:highlight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>
                <a:highlight>
                  <a:srgbClr val="C58AEB"/>
                </a:highlight>
              </a:rPr>
              <a:t>Plots that compare the result/solution of your exact solution versus the approximation on your test cases (3)</a:t>
            </a:r>
            <a:endParaRPr sz="1200">
              <a:highlight>
                <a:srgbClr val="C58AEB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Also missing (from rubric):</a:t>
            </a:r>
            <a:endParaRPr sz="1200"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Provide run time results (exact versus approximation). Data should be provided in form of:</a:t>
            </a:r>
            <a:endParaRPr sz="1200"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Approx ratio if possible</a:t>
            </a:r>
            <a:endParaRPr sz="1200"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A script to run the tests</a:t>
            </a:r>
            <a:endParaRPr sz="1200"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A table of results (in a PDF)</a:t>
            </a:r>
            <a:endParaRPr sz="1200"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And a plot/graphic for the slides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